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9"/>
          </a:solidFill>
          <a:ln>
            <a:solidFill>
              <a:srgbClr val="111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926080" cy="365760"/>
          </a:xfrm>
          <a:prstGeom prst="roundRect">
            <a:avLst/>
          </a:prstGeom>
          <a:solidFill>
            <a:srgbClr val="1E2A38"/>
          </a:solidFill>
          <a:ln>
            <a:solidFill>
              <a:srgbClr val="7EE0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EE081"/>
                </a:solidFill>
                <a:latin typeface="Consolas"/>
              </a:defRPr>
            </a:pPr>
            <a:r>
              <a:t>RESEARCH &amp; ENGINEERING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CF2F8"/>
                </a:solidFill>
                <a:latin typeface="Calibri"/>
              </a:defRPr>
            </a:pPr>
            <a:r>
              <a:t>APEX SCIENTIFIC CALCULATOR</a:t>
            </a:r>
          </a:p>
          <a:p>
            <a:pPr>
              <a:defRPr sz="1700">
                <a:solidFill>
                  <a:srgbClr val="8A94A6"/>
                </a:solidFill>
                <a:latin typeface="Calibri"/>
              </a:defRPr>
            </a:pPr>
            <a:r>
              <a:t>Deterministic Shunting-Yard RPN Engine, Synthetic Membrane Switch Acoustics &amp; Dual-Power Physical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3291840" cy="23774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7355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7EE081"/>
                </a:solidFill>
                <a:latin typeface="Calibri"/>
              </a:defRPr>
            </a:pPr>
            <a:r>
              <a:t>01 / Deterministic Math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CF2F8"/>
                </a:solidFill>
                <a:latin typeface="Calibri"/>
              </a:defRPr>
            </a:pPr>
            <a:r>
              <a:t>• Pure TypeScript Dijkstra Shunting-Yard engine.</a:t>
            </a:r>
          </a:p>
          <a:p>
            <a:pPr>
              <a:spcAft>
                <a:spcPts val="600"/>
              </a:spcAft>
              <a:defRPr sz="1200">
                <a:solidFill>
                  <a:srgbClr val="ECF2F8"/>
                </a:solidFill>
                <a:latin typeface="Calibri"/>
              </a:defRPr>
            </a:pPr>
            <a:r>
              <a:t>• Exact operator precedence &amp; associative parsing.</a:t>
            </a:r>
          </a:p>
          <a:p>
            <a:pPr>
              <a:spcAft>
                <a:spcPts val="600"/>
              </a:spcAft>
              <a:defRPr sz="1200">
                <a:solidFill>
                  <a:srgbClr val="ECF2F8"/>
                </a:solidFill>
                <a:latin typeface="Calibri"/>
              </a:defRPr>
            </a:pPr>
            <a:r>
              <a:t>• Zero eval() vulnerabilities; full AST/RPN tree.</a:t>
            </a:r>
          </a:p>
          <a:p>
            <a:pPr>
              <a:spcAft>
                <a:spcPts val="600"/>
              </a:spcAft>
              <a:defRPr sz="1200">
                <a:solidFill>
                  <a:srgbClr val="ECF2F8"/>
                </a:solidFill>
                <a:latin typeface="Calibri"/>
              </a:defRPr>
            </a:pPr>
            <a:r>
              <a:t>• Safe domain error traps (div by zero, neg roots).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108960"/>
            <a:ext cx="3291840" cy="23774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27355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EC4B6"/>
                </a:solidFill>
                <a:latin typeface="Calibri"/>
              </a:defRPr>
            </a:pPr>
            <a:r>
              <a:t>02 / Tactile Acoustics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6576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CF2F8"/>
                </a:solidFill>
                <a:latin typeface="Calibri"/>
              </a:defRPr>
            </a:pPr>
            <a:r>
              <a:t>• Web Audio API real-time acoustic synthesis.</a:t>
            </a:r>
          </a:p>
          <a:p>
            <a:pPr>
              <a:spcAft>
                <a:spcPts val="600"/>
              </a:spcAft>
              <a:defRPr sz="1200">
                <a:solidFill>
                  <a:srgbClr val="ECF2F8"/>
                </a:solidFill>
                <a:latin typeface="Calibri"/>
              </a:defRPr>
            </a:pPr>
            <a:r>
              <a:t>• 1.9kHz - 2.4kHz bandpass plastic resonance.</a:t>
            </a:r>
          </a:p>
          <a:p>
            <a:pPr>
              <a:spcAft>
                <a:spcPts val="600"/>
              </a:spcAft>
              <a:defRPr sz="1200">
                <a:solidFill>
                  <a:srgbClr val="ECF2F8"/>
                </a:solidFill>
                <a:latin typeface="Calibri"/>
              </a:defRPr>
            </a:pPr>
            <a:r>
              <a:t>• 160Hz rubber dome bottoming-out thock pulse.</a:t>
            </a:r>
          </a:p>
          <a:p>
            <a:pPr>
              <a:spcAft>
                <a:spcPts val="600"/>
              </a:spcAft>
              <a:defRPr sz="1200">
                <a:solidFill>
                  <a:srgbClr val="ECF2F8"/>
                </a:solidFill>
                <a:latin typeface="Calibri"/>
              </a:defRPr>
            </a:pPr>
            <a:r>
              <a:t>• Web Vibration API synchronized haptic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108960"/>
            <a:ext cx="3383280" cy="23774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2735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Calibri"/>
              </a:defRPr>
            </a:pPr>
            <a:r>
              <a:t>03 / Hardware Fidelity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6576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CF2F8"/>
                </a:solidFill>
                <a:latin typeface="Calibri"/>
              </a:defRPr>
            </a:pPr>
            <a:r>
              <a:t>• Engineered after Casio fx / TI-84 enclosures.</a:t>
            </a:r>
          </a:p>
          <a:p>
            <a:pPr>
              <a:spcAft>
                <a:spcPts val="600"/>
              </a:spcAft>
              <a:defRPr sz="1200">
                <a:solidFill>
                  <a:srgbClr val="ECF2F8"/>
                </a:solidFill>
                <a:latin typeface="Calibri"/>
              </a:defRPr>
            </a:pPr>
            <a:r>
              <a:t>• Photovoltaic solar cell simulation bezel.</a:t>
            </a:r>
          </a:p>
          <a:p>
            <a:pPr>
              <a:spcAft>
                <a:spcPts val="600"/>
              </a:spcAft>
              <a:defRPr sz="1200">
                <a:solidFill>
                  <a:srgbClr val="ECF2F8"/>
                </a:solidFill>
                <a:latin typeface="Calibri"/>
              </a:defRPr>
            </a:pPr>
            <a:r>
              <a:t>• Recessed optical LCD with DEG/RAD/M status.</a:t>
            </a:r>
          </a:p>
          <a:p>
            <a:pPr>
              <a:spcAft>
                <a:spcPts val="600"/>
              </a:spcAft>
              <a:defRPr sz="1200">
                <a:solidFill>
                  <a:srgbClr val="ECF2F8"/>
                </a:solidFill>
                <a:latin typeface="Calibri"/>
              </a:defRPr>
            </a:pPr>
            <a:r>
              <a:t>• Continuous paper tape history in localStorage.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4A6"/>
                </a:solidFill>
                <a:latin typeface="Consolas"/>
              </a:defRPr>
            </a:pPr>
            <a:r>
              <a:t>Stack: React 19 • TypeScript 5.8 • Tailwind CSS v4 • Vite 8.3  |  Author: greatrocktiger-byte  |  Status: Production 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9"/>
          </a:solidFill>
          <a:ln>
            <a:solidFill>
              <a:srgbClr val="111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E081"/>
                </a:solidFill>
                <a:latin typeface="Consolas"/>
              </a:defRPr>
            </a:pPr>
            <a:r>
              <a:t>APEX SCIENTIFIC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ECF2F8"/>
                </a:solidFill>
                <a:latin typeface="Calibri"/>
              </a:defRPr>
            </a:pPr>
            <a:r>
              <a:t>Problem Statement &amp; Engineering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02336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04F4F"/>
                </a:solidFill>
                <a:latin typeface="Calibri"/>
              </a:defRPr>
            </a:pPr>
            <a:r>
              <a:t>Flaws in Standard Web Calculators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CF2F8"/>
                </a:solidFill>
                <a:latin typeface="Calibri"/>
              </a:defRPr>
            </a:pPr>
            <a:r>
              <a:t>✖  Security Risk: Insecure eval() Usage</a:t>
            </a:r>
          </a:p>
          <a:p>
            <a:pPr>
              <a:spcAft>
                <a:spcPts val="1000"/>
              </a:spcAft>
              <a:defRPr sz="1100">
                <a:solidFill>
                  <a:srgbClr val="8A94A6"/>
                </a:solidFill>
                <a:latin typeface="Calibri"/>
              </a:defRPr>
            </a:pPr>
            <a:r>
              <a:t>Many open-source web calculators pass raw user strings directly to eval(), causing critical XSS &amp; arbitrary script execution vulnerabilities.</a:t>
            </a:r>
          </a:p>
          <a:p>
            <a:pPr>
              <a:defRPr sz="1300" b="1">
                <a:solidFill>
                  <a:srgbClr val="ECF2F8"/>
                </a:solidFill>
                <a:latin typeface="Calibri"/>
              </a:defRPr>
            </a:pPr>
            <a:r>
              <a:t>✖  Faulty Precedence &amp; Unary Bugs</a:t>
            </a:r>
          </a:p>
          <a:p>
            <a:pPr>
              <a:spcAft>
                <a:spcPts val="1000"/>
              </a:spcAft>
              <a:defRPr sz="1100">
                <a:solidFill>
                  <a:srgbClr val="8A94A6"/>
                </a:solidFill>
                <a:latin typeface="Calibri"/>
              </a:defRPr>
            </a:pPr>
            <a:r>
              <a:t>Naive left-to-right parsers botch standard operator hierarchy (e.g., treating 2+3*4 as 20 instead of 14, or failing on -5^2 vs (-5)^2).</a:t>
            </a:r>
          </a:p>
          <a:p>
            <a:pPr>
              <a:defRPr sz="1300" b="1">
                <a:solidFill>
                  <a:srgbClr val="ECF2F8"/>
                </a:solidFill>
                <a:latin typeface="Calibri"/>
              </a:defRPr>
            </a:pPr>
            <a:r>
              <a:t>✖  Lack of Sensory / Tactile Feedback</a:t>
            </a:r>
          </a:p>
          <a:p>
            <a:pPr>
              <a:spcAft>
                <a:spcPts val="1000"/>
              </a:spcAft>
              <a:defRPr sz="1100">
                <a:solidFill>
                  <a:srgbClr val="8A94A6"/>
                </a:solidFill>
                <a:latin typeface="Calibri"/>
              </a:defRPr>
            </a:pPr>
            <a:r>
              <a:t>Flat glass touch keys feel lifeless; users frequently double-tap or mis-input digits without mechanical or auditory acknowledgment.</a:t>
            </a:r>
          </a:p>
          <a:p>
            <a:pPr>
              <a:defRPr sz="1300" b="1">
                <a:solidFill>
                  <a:srgbClr val="ECF2F8"/>
                </a:solidFill>
                <a:latin typeface="Calibri"/>
              </a:defRPr>
            </a:pPr>
            <a:r>
              <a:t>✖  No Reference Library or Memory Tape</a:t>
            </a:r>
          </a:p>
          <a:p>
            <a:pPr>
              <a:spcAft>
                <a:spcPts val="1000"/>
              </a:spcAft>
              <a:defRPr sz="1100">
                <a:solidFill>
                  <a:srgbClr val="8A94A6"/>
                </a:solidFill>
                <a:latin typeface="Calibri"/>
              </a:defRPr>
            </a:pPr>
            <a:r>
              <a:t>Calculations are immediately lost on refresh. Lack of built-in fundamental physics constants forces tedious context switching.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02336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7EE081"/>
                </a:solidFill>
                <a:latin typeface="Calibri"/>
              </a:defRPr>
            </a:pPr>
            <a:r>
              <a:t>The Apex Engineering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EE081"/>
                </a:solidFill>
                <a:latin typeface="Calibri"/>
              </a:defRPr>
            </a:pPr>
            <a:r>
              <a:t>✔  AST &amp; Shunting-Yard Determinism</a:t>
            </a:r>
          </a:p>
          <a:p>
            <a:pPr>
              <a:spcAft>
                <a:spcPts val="1000"/>
              </a:spcAft>
              <a:defRPr sz="1100">
                <a:solidFill>
                  <a:srgbClr val="ECF2F8"/>
                </a:solidFill>
                <a:latin typeface="Calibri"/>
              </a:defRPr>
            </a:pPr>
            <a:r>
              <a:t>Constructs a robust Reverse Polish Notation (RPN) stack using Dijkstra's algorithm. 100% immune to injection, deterministic down to IEEE-754 precision.</a:t>
            </a:r>
          </a:p>
          <a:p>
            <a:pPr>
              <a:defRPr sz="1300" b="1">
                <a:solidFill>
                  <a:srgbClr val="7EE081"/>
                </a:solidFill>
                <a:latin typeface="Calibri"/>
              </a:defRPr>
            </a:pPr>
            <a:r>
              <a:t>✔  Context-Aware Unary Tokenizer</a:t>
            </a:r>
          </a:p>
          <a:p>
            <a:pPr>
              <a:spcAft>
                <a:spcPts val="1000"/>
              </a:spcAft>
              <a:defRPr sz="1100">
                <a:solidFill>
                  <a:srgbClr val="ECF2F8"/>
                </a:solidFill>
                <a:latin typeface="Calibri"/>
              </a:defRPr>
            </a:pPr>
            <a:r>
              <a:t>Differentiates unary negation ('neg') from binary subtraction based on preceding token state, ensuring mathematically sound expressions.</a:t>
            </a:r>
          </a:p>
          <a:p>
            <a:pPr>
              <a:defRPr sz="1300" b="1">
                <a:solidFill>
                  <a:srgbClr val="7EE081"/>
                </a:solidFill>
                <a:latin typeface="Calibri"/>
              </a:defRPr>
            </a:pPr>
            <a:r>
              <a:t>✔  Web Audio Synthesized Dome Acoustics</a:t>
            </a:r>
          </a:p>
          <a:p>
            <a:pPr>
              <a:spcAft>
                <a:spcPts val="1000"/>
              </a:spcAft>
              <a:defRPr sz="1100">
                <a:solidFill>
                  <a:srgbClr val="ECF2F8"/>
                </a:solidFill>
                <a:latin typeface="Calibri"/>
              </a:defRPr>
            </a:pPr>
            <a:r>
              <a:t>Synthesizes dual-component acoustic pulses (filtered bandpass contact noise + exponential decaying bottom-out sine thump) with zero sound sample latency.</a:t>
            </a:r>
          </a:p>
          <a:p>
            <a:pPr>
              <a:defRPr sz="1300" b="1">
                <a:solidFill>
                  <a:srgbClr val="7EE081"/>
                </a:solidFill>
                <a:latin typeface="Calibri"/>
              </a:defRPr>
            </a:pPr>
            <a:r>
              <a:t>✔  Persistent Tape &amp; Constant Catalog</a:t>
            </a:r>
          </a:p>
          <a:p>
            <a:pPr>
              <a:spcAft>
                <a:spcPts val="1000"/>
              </a:spcAft>
              <a:defRPr sz="1100">
                <a:solidFill>
                  <a:srgbClr val="ECF2F8"/>
                </a:solidFill>
                <a:latin typeface="Calibri"/>
              </a:defRPr>
            </a:pPr>
            <a:r>
              <a:t>Automatic localStorage tape logging with 1-click value recalls, alongside an integrated table of 8 fundamental scientific constants.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1E2A38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74243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Consolas"/>
              </a:defRPr>
            </a:pPr>
            <a:r>
              <a:t>EVALUATOR VERDICT:  Apex replaces naive eval() implementations with an industrial-grade mathematical pipeline modeled after hardware scientific instruments.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9"/>
          </a:solidFill>
          <a:ln>
            <a:solidFill>
              <a:srgbClr val="111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E081"/>
                </a:solidFill>
                <a:latin typeface="Consolas"/>
              </a:defRPr>
            </a:pPr>
            <a:r>
              <a:t>TECHNICAL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ECF2F8"/>
                </a:solidFill>
                <a:latin typeface="Calibri"/>
              </a:defRPr>
            </a:pPr>
            <a:r>
              <a:t>System Architecture &amp; 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468880" cy="20116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7EE081"/>
                </a:solidFill>
                <a:latin typeface="Calibri"/>
              </a:defRPr>
            </a:pPr>
            <a:r>
              <a:t>Step 1: Input &amp; Lexer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CF2F8"/>
                </a:solidFill>
                <a:latin typeface="Calibri"/>
              </a:defRPr>
            </a:pPr>
            <a:r>
              <a:t>Tokenize raw string into numbers, constants (π, e), functions (sin, log), &amp; context-aware unary negation tokens.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63040"/>
            <a:ext cx="2468880" cy="20116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2763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7EE081"/>
                </a:solidFill>
                <a:latin typeface="Calibri"/>
              </a:defRPr>
            </a:pPr>
            <a:r>
              <a:t>Step 2: Shunting-Yard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01168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CF2F8"/>
                </a:solidFill>
                <a:latin typeface="Calibri"/>
              </a:defRPr>
            </a:pPr>
            <a:r>
              <a:t>Reorder infix token array into Reverse Polish Notation (RPN) stack using precedence &amp; associativity tables.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468880" cy="20116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2763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7EE081"/>
                </a:solidFill>
                <a:latin typeface="Calibri"/>
              </a:defRPr>
            </a:pPr>
            <a:r>
              <a:t>Step 3: Stack Evaluator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1168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CF2F8"/>
                </a:solidFill>
                <a:latin typeface="Calibri"/>
              </a:defRPr>
            </a:pPr>
            <a:r>
              <a:t>Execute binary/unary operations with IEEE-754 precision, trigonometric conversions, &amp; boundary error guards.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463040"/>
            <a:ext cx="2468880" cy="20116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62763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7EE081"/>
                </a:solidFill>
                <a:latin typeface="Calibri"/>
              </a:defRPr>
            </a:pPr>
            <a:r>
              <a:t>Step 4: Presentation &amp; Audio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01168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CF2F8"/>
                </a:solidFill>
                <a:latin typeface="Calibri"/>
              </a:defRPr>
            </a:pPr>
            <a:r>
              <a:t>Render high-contrast LCD display, append paper tape to localStorage, &amp; synthesize membrane audio transients.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49039"/>
            <a:ext cx="5212080" cy="265176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13631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EC4B6"/>
                </a:solidFill>
                <a:latin typeface="Calibri"/>
              </a:defRPr>
            </a:pPr>
            <a:r>
              <a:t>Engine State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976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CF2F8"/>
                </a:solidFill>
                <a:latin typeface="Calibri"/>
              </a:defRPr>
            </a:pPr>
            <a:r>
              <a:t>▫ Infix Expression Stream: Handles parentheses nesting up to arbitrary depth with automatic mismatch detection.</a:t>
            </a:r>
          </a:p>
          <a:p>
            <a:pPr>
              <a:spcAft>
                <a:spcPts val="400"/>
              </a:spcAft>
              <a:defRPr sz="1100">
                <a:solidFill>
                  <a:srgbClr val="ECF2F8"/>
                </a:solidFill>
                <a:latin typeface="Calibri"/>
              </a:defRPr>
            </a:pPr>
            <a:r>
              <a:t>▫ RPN Stack Execution: Reduces O(N) linear complexity operations without recursive stack overflow.</a:t>
            </a:r>
          </a:p>
          <a:p>
            <a:pPr>
              <a:spcAft>
                <a:spcPts val="400"/>
              </a:spcAft>
              <a:defRPr sz="1100">
                <a:solidFill>
                  <a:srgbClr val="ECF2F8"/>
                </a:solidFill>
                <a:latin typeface="Calibri"/>
              </a:defRPr>
            </a:pPr>
            <a:r>
              <a:t>▫ DEG / RAD Mode Switching: Pure mathematical normalization (x * π / 180) before passing into Math.sin/cos/tan.</a:t>
            </a:r>
          </a:p>
          <a:p>
            <a:pPr>
              <a:spcAft>
                <a:spcPts val="400"/>
              </a:spcAft>
              <a:defRPr sz="1100">
                <a:solidFill>
                  <a:srgbClr val="ECF2F8"/>
                </a:solidFill>
                <a:latin typeface="Calibri"/>
              </a:defRPr>
            </a:pPr>
            <a:r>
              <a:t>▫ Error Quarantine: Traps division by zero, fractional factorials, and negative square roots before UI paint.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265176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913631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Calibri"/>
              </a:defRPr>
            </a:pPr>
            <a:r>
              <a:t>Component Interconnect Topology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976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CF2F8"/>
                </a:solidFill>
                <a:latin typeface="Calibri"/>
              </a:defRPr>
            </a:pPr>
            <a:r>
              <a:t>▫ App.tsx (Root Controller): Synchronizes CalculatorEngine, Web Audio service, active tabs, and keyboard listeners.</a:t>
            </a:r>
          </a:p>
          <a:p>
            <a:pPr>
              <a:spcAft>
                <a:spcPts val="400"/>
              </a:spcAft>
              <a:defRPr sz="1100">
                <a:solidFill>
                  <a:srgbClr val="ECF2F8"/>
                </a:solidFill>
                <a:latin typeface="Calibri"/>
              </a:defRPr>
            </a:pPr>
            <a:r>
              <a:t>▫ Display.tsx (LCD Subsystem): Dynamic font-scaling engine (text-4xl down to text-base for long numbers) &amp; copy clipboards.</a:t>
            </a:r>
          </a:p>
          <a:p>
            <a:pPr>
              <a:spcAft>
                <a:spcPts val="400"/>
              </a:spcAft>
              <a:defRPr sz="1100">
                <a:solidFill>
                  <a:srgbClr val="ECF2F8"/>
                </a:solidFill>
                <a:latin typeface="Calibri"/>
              </a:defRPr>
            </a:pPr>
            <a:r>
              <a:t>▫ Keypad.tsx (Keycap Matrix): 36 interactive physical keycaps with 2nd function register shifts &amp; tactile spring back.</a:t>
            </a:r>
          </a:p>
          <a:p>
            <a:pPr>
              <a:spcAft>
                <a:spcPts val="400"/>
              </a:spcAft>
              <a:defRPr sz="1100">
                <a:solidFill>
                  <a:srgbClr val="ECF2F8"/>
                </a:solidFill>
                <a:latin typeface="Calibri"/>
              </a:defRPr>
            </a:pPr>
            <a:r>
              <a:t>▫ HistoryPanel.tsx: Virtualized calculation tape with timestamp, DEG/RAD tag, and 1-click result reinjection.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9"/>
          </a:solidFill>
          <a:ln>
            <a:solidFill>
              <a:srgbClr val="111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E081"/>
                </a:solidFill>
                <a:latin typeface="Consolas"/>
              </a:defRPr>
            </a:pPr>
            <a:r>
              <a:t>ALGORITHMIC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ECF2F8"/>
                </a:solidFill>
                <a:latin typeface="Calibri"/>
              </a:defRPr>
            </a:pPr>
            <a:r>
              <a:t>Shunting-Yard Parser &amp; Mathematical Precedence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6583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280160"/>
                <a:gridCol w="1371600"/>
                <a:gridCol w="1097280"/>
                <a:gridCol w="1828800"/>
              </a:tblGrid>
              <a:tr h="52251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7EE081"/>
                          </a:solidFill>
                          <a:latin typeface="Consolas"/>
                        </a:defRPr>
                      </a:pPr>
                      <a:r>
                        <a:t>Token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7EE081"/>
                          </a:solidFill>
                          <a:latin typeface="Consolas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7EE081"/>
                          </a:solidFill>
                          <a:latin typeface="Consolas"/>
                        </a:defRPr>
                      </a:pPr>
                      <a:r>
                        <a:t>Precedence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7EE081"/>
                          </a:solidFill>
                          <a:latin typeface="Consolas"/>
                        </a:defRPr>
                      </a:pPr>
                      <a:r>
                        <a:t>Associativity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7EE081"/>
                          </a:solidFill>
                          <a:latin typeface="Consolas"/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C4B6"/>
                          </a:solidFill>
                          <a:latin typeface="Calibri"/>
                        </a:defRPr>
                      </a:pPr>
                      <a:r>
                        <a:t>!, %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Factorial, Percent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Level 5 (Highest)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Left-to-Right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5! = 120, 50% = 0.5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C4B6"/>
                          </a:solidFill>
                          <a:latin typeface="Calibri"/>
                        </a:defRPr>
                      </a:pPr>
                      <a:r>
                        <a:t>^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Power (Exponent)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Level 4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Right-to-Left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2 ^ 3 ^ 2 = 512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C4B6"/>
                          </a:solidFill>
                          <a:latin typeface="Calibri"/>
                        </a:defRPr>
                      </a:pPr>
                      <a:r>
                        <a:t>neg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Unary Minus (±)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Level 3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Right-to-Left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-5 ^ 2 = -25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C4B6"/>
                          </a:solidFill>
                          <a:latin typeface="Calibri"/>
                        </a:defRPr>
                      </a:pPr>
                      <a:r>
                        <a:t>*, /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Multiply, Divide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Level 2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Left-to-Right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10 + 2 * 3 = 16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C4B6"/>
                          </a:solidFill>
                          <a:latin typeface="Calibri"/>
                        </a:defRPr>
                      </a:pPr>
                      <a:r>
                        <a:t>+, -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Add, Subtract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Level 1 (Lowest)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Left-to-Right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15 - 5 + 2 = 12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EC4B6"/>
                          </a:solidFill>
                          <a:latin typeface="Calibri"/>
                        </a:defRPr>
                      </a:pPr>
                      <a:r>
                        <a:t>fn(...)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Trig / Log / Roots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Immediate Stack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Function Arg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sin(30) = 0.5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89520" y="1463040"/>
            <a:ext cx="3840480" cy="47548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62763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Calibri"/>
              </a:defRPr>
            </a:pPr>
            <a:r>
              <a:t>Contextual Unary Negation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011680"/>
            <a:ext cx="3474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EE081"/>
                </a:solidFill>
                <a:latin typeface="Calibri"/>
              </a:defRPr>
            </a:pPr>
            <a:r>
              <a:t>The Challenge:</a:t>
            </a:r>
          </a:p>
          <a:p>
            <a:pPr>
              <a:spcAft>
                <a:spcPts val="8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Differentiating subtraction (5 - 3) from negative numbers (-5 + 3) without manual user syntax gymnastics.</a:t>
            </a:r>
          </a:p>
          <a:p>
            <a:pPr>
              <a:defRPr sz="1100" b="1">
                <a:solidFill>
                  <a:srgbClr val="7EE081"/>
                </a:solidFill>
                <a:latin typeface="Calibri"/>
              </a:defRPr>
            </a:pPr>
            <a:r>
              <a:t>Apex Tokenizer Rule:</a:t>
            </a:r>
          </a:p>
          <a:p>
            <a:pPr>
              <a:spcAft>
                <a:spcPts val="8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A minus glyph '-' is classified as 'neg' if it occurs:</a:t>
            </a:r>
            <a:br/>
            <a:r>
              <a:t>• At expression start: '-5'</a:t>
            </a:r>
            <a:br/>
            <a:r>
              <a:t>• Immediately after an operator: '3 * -4'</a:t>
            </a:r>
            <a:br/>
            <a:r>
              <a:t>• Immediately after '(': '2 / (-8)'</a:t>
            </a:r>
          </a:p>
          <a:p>
            <a:pPr>
              <a:defRPr sz="1100" b="1">
                <a:solidFill>
                  <a:srgbClr val="7EE081"/>
                </a:solidFill>
                <a:latin typeface="Calibri"/>
              </a:defRPr>
            </a:pPr>
            <a:r>
              <a:t>Strict Precedence:</a:t>
            </a:r>
          </a:p>
          <a:p>
            <a:pPr>
              <a:spcAft>
                <a:spcPts val="8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Unary negation binds tighter than addition/subtraction, but allows powers to conform to standard math convention: -x^2 = -(x^2).</a:t>
            </a:r>
          </a:p>
          <a:p>
            <a:pPr>
              <a:defRPr sz="1100" b="1">
                <a:solidFill>
                  <a:srgbClr val="7EE081"/>
                </a:solidFill>
                <a:latin typeface="Calibri"/>
              </a:defRPr>
            </a:pPr>
            <a:r>
              <a:t>Domain Traps Protected:</a:t>
            </a:r>
          </a:p>
          <a:p>
            <a:pPr>
              <a:spcAft>
                <a:spcPts val="8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• Divide by zero -&gt; 'Divide by zero'</a:t>
            </a:r>
            <a:br/>
            <a:r>
              <a:t>• √(-n) -&gt; '√ of negative number'</a:t>
            </a:r>
            <a:br/>
            <a:r>
              <a:t>• ln(0 or -n) -&gt; 'Non-positive number'</a:t>
            </a:r>
            <a:br/>
            <a:r>
              <a:t>• n! with n &lt; 0 or float -&gt; 'Integer required'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9"/>
          </a:solidFill>
          <a:ln>
            <a:solidFill>
              <a:srgbClr val="111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E081"/>
                </a:solidFill>
                <a:latin typeface="Consolas"/>
              </a:defRPr>
            </a:pPr>
            <a:r>
              <a:t>SENSORY REALISM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ECF2F8"/>
                </a:solidFill>
                <a:latin typeface="Calibri"/>
              </a:defRPr>
            </a:pPr>
            <a:r>
              <a:t>Tactile Hardware Aesthetic &amp; Web Audio Acoustic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lc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3035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94A6"/>
                </a:solidFill>
                <a:latin typeface="Consolas"/>
              </a:defRPr>
            </a:pPr>
            <a:r>
              <a:t>▲ Live Prototype Screenshot: Hardware chassis, solar cell, &amp; recessed optical LCD.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463040"/>
            <a:ext cx="4754880" cy="219456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627632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7EE081"/>
                </a:solidFill>
                <a:latin typeface="Calibri"/>
              </a:defRPr>
            </a:pPr>
            <a:r>
              <a:t>Web Audio API Switch Physics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1168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• Synthetic White Noise Burst: 15ms buffer filtered through BiquadFilter (1800Hz - 2400Hz bandpass) emulating physical key plastic contact.</a:t>
            </a:r>
          </a:p>
          <a:p>
            <a:pPr>
              <a:spcAft>
                <a:spcPts val="4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• Bottom-Out Oscillator: 160Hz - 210Hz exponential decaying sine wave simulating rubber membrane bottoming out on PCB plate.</a:t>
            </a:r>
          </a:p>
          <a:p>
            <a:pPr>
              <a:spcAft>
                <a:spcPts val="4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• Zero Audio Assets: 100% synthetically generated in runtime; 0 KB network latency, zero MP3/WAV download requirements.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840480"/>
            <a:ext cx="4754880" cy="23774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4005072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EC4B6"/>
                </a:solidFill>
                <a:latin typeface="Calibri"/>
              </a:defRPr>
            </a:pPr>
            <a:r>
              <a:t>Physical Chassis Ergonomics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38912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• Dual-Power Solar Simulation: Gradient-paneled photovoltaic cell strip with glass glare simulation.</a:t>
            </a:r>
          </a:p>
          <a:p>
            <a:pPr>
              <a:spcAft>
                <a:spcPts val="4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• Molded Side Grip Ridges: Realistic ribbed textures along calculator flanks replicating rubberized handheld grips.</a:t>
            </a:r>
          </a:p>
          <a:p>
            <a:pPr>
              <a:spcAft>
                <a:spcPts val="4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• Motion-Driven 3D Keycaps: Dynamic shadow depressions (whileTap={{ y: 2 }}) providing tactile displacement.</a:t>
            </a:r>
          </a:p>
          <a:p>
            <a:pPr>
              <a:spcAft>
                <a:spcPts val="4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• Optical Annunciators: Glowing green/amber LED dots signaling DEG/RAD angle modes and active memory 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9"/>
          </a:solidFill>
          <a:ln>
            <a:solidFill>
              <a:srgbClr val="111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E081"/>
                </a:solidFill>
                <a:latin typeface="Consolas"/>
              </a:defRPr>
            </a:pPr>
            <a:r>
              <a:t>WORKFLOW CONTINUITY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ECF2F8"/>
                </a:solidFill>
                <a:latin typeface="Calibri"/>
              </a:defRPr>
            </a:pPr>
            <a:r>
              <a:t>Calculation Tape History &amp; Memory Subsystem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lc_with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3035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94A6"/>
                </a:solidFill>
                <a:latin typeface="Consolas"/>
              </a:defRPr>
            </a:pPr>
            <a:r>
              <a:t>▲ Live Prototype Screenshot: Continuous paper tape logging 12*8=96, sin(30)=0.5, sqrt(144)=12.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463040"/>
            <a:ext cx="4754880" cy="219456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627632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7EE081"/>
                </a:solidFill>
                <a:latin typeface="Calibri"/>
              </a:defRPr>
            </a:pPr>
            <a:r>
              <a:t>Virtual Continuous Paper Tape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1168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▫ Persistent localStorage Sync: Retains up to 50 previous calculations across browser sessions and hard page refreshes.</a:t>
            </a:r>
          </a:p>
          <a:p>
            <a:pPr>
              <a:spcAft>
                <a:spcPts val="4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▫ 1-Click Result Injection: Tapping any historical card instantly injects its answer into active expression stream.</a:t>
            </a:r>
          </a:p>
          <a:p>
            <a:pPr>
              <a:spcAft>
                <a:spcPts val="4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▫ Equation Recall Mode: Allows reviewing original expression with angle mode indicator tag (DEG / RAD).</a:t>
            </a:r>
          </a:p>
          <a:p>
            <a:pPr>
              <a:spcAft>
                <a:spcPts val="4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▫ Individual &amp; Batch Eviction: Granular trash icon deletion per item or instant paper tape clearing.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840480"/>
            <a:ext cx="4754880" cy="23774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4005072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Calibri"/>
              </a:defRPr>
            </a:pPr>
            <a:r>
              <a:t>5-Key Memory Subsystem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38912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▫ MC (Memory Clear): Flushes register to zero and extinguishes LCD 'M' annunciator.</a:t>
            </a:r>
          </a:p>
          <a:p>
            <a:pPr>
              <a:spcAft>
                <a:spcPts val="4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▫ MR (Memory Recall): Injects current stored register value directly into the active calculation.</a:t>
            </a:r>
          </a:p>
          <a:p>
            <a:pPr>
              <a:spcAft>
                <a:spcPts val="4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▫ M+ / M- (Accumulate): Evaluates current input and adds/subtracts value from memory register.</a:t>
            </a:r>
          </a:p>
          <a:p>
            <a:pPr>
              <a:spcAft>
                <a:spcPts val="4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▫ MS (Memory Store): Stores current LCD evaluation directly into dedicated register.</a:t>
            </a:r>
          </a:p>
          <a:p>
            <a:pPr>
              <a:spcAft>
                <a:spcPts val="4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▫ Dynamic Button Guard: MC and MR buttons disable automatically when register is zero.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9"/>
          </a:solidFill>
          <a:ln>
            <a:solidFill>
              <a:srgbClr val="111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E081"/>
                </a:solidFill>
                <a:latin typeface="Consolas"/>
              </a:defRPr>
            </a:pPr>
            <a:r>
              <a:t>DOMAIN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ECF2F8"/>
                </a:solidFill>
                <a:latin typeface="Calibri"/>
              </a:defRPr>
            </a:pPr>
            <a:r>
              <a:t>Scientific Reference Library &amp; Fundamental Formulas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lc_const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3035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94A6"/>
                </a:solidFill>
                <a:latin typeface="Consolas"/>
              </a:defRPr>
            </a:pPr>
            <a:r>
              <a:t>▲ Live Prototype Screenshot: Integrated catalog of universal physical &amp; mathematical constants.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463040"/>
            <a:ext cx="4754880" cy="219456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627632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EC4B6"/>
                </a:solidFill>
                <a:latin typeface="Calibri"/>
              </a:defRPr>
            </a:pPr>
            <a:r>
              <a:t>Universal Constants Built-in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1168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• π (Pi): 3.141592653589793 - Circle circumference-to-diameter ratio.</a:t>
            </a:r>
          </a:p>
          <a:p>
            <a:pPr>
              <a:spcAft>
                <a:spcPts val="2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• e (Euler's Number): 2.718281828459045 - Natural growth base.</a:t>
            </a:r>
          </a:p>
          <a:p>
            <a:pPr>
              <a:spcAft>
                <a:spcPts val="2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• c (Speed of Light): 299,792,458 m/s - Universal relativistic speed.</a:t>
            </a:r>
          </a:p>
          <a:p>
            <a:pPr>
              <a:spcAft>
                <a:spcPts val="2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• h (Planck Constant): 6.62607015e-34 J·s - Quantum mechanics action.</a:t>
            </a:r>
          </a:p>
          <a:p>
            <a:pPr>
              <a:spcAft>
                <a:spcPts val="2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• G (Gravitational Constant): 6.67430e-11 m³/(kg·s²) - Newton's law.</a:t>
            </a:r>
          </a:p>
          <a:p>
            <a:pPr>
              <a:spcAft>
                <a:spcPts val="2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• kB (Boltzmann) &amp; NA (Avogadro): Thermodynamic &amp; molar constants.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840480"/>
            <a:ext cx="4754880" cy="23774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4005072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7EE081"/>
                </a:solidFill>
                <a:latin typeface="Calibri"/>
              </a:defRPr>
            </a:pPr>
            <a:r>
              <a:t>Pre-Formulated Template Injector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38912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• Trigonometric Pythagorean: sin(x)² + cos(x)² = 1 verification.</a:t>
            </a:r>
          </a:p>
          <a:p>
            <a:pPr>
              <a:spcAft>
                <a:spcPts val="3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• Euler's Complex Identity: Real component cos(180) + 1 = 0 test.</a:t>
            </a:r>
          </a:p>
          <a:p>
            <a:pPr>
              <a:spcAft>
                <a:spcPts val="3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• Geometric Measurements: Circle area (π·r²), sphere volume ((4/3)·π·r³), and right-triangle hypotenuse (√(a²+b²)).</a:t>
            </a:r>
          </a:p>
          <a:p>
            <a:pPr>
              <a:spcAft>
                <a:spcPts val="3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• Compound Interest Calculator: A = P · (1 + r/n)^(n·t) financial model.</a:t>
            </a:r>
          </a:p>
          <a:p>
            <a:pPr>
              <a:spcAft>
                <a:spcPts val="3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• Mobile Tab Responsive Optimization: Automatic tab routing back to keypad on formula click for small screens.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9"/>
          </a:solidFill>
          <a:ln>
            <a:solidFill>
              <a:srgbClr val="111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E081"/>
                </a:solidFill>
                <a:latin typeface="Consolas"/>
              </a:defRPr>
            </a:pPr>
            <a:r>
              <a:t>EVALUATOR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ECF2F8"/>
                </a:solidFill>
                <a:latin typeface="Calibri"/>
              </a:defRPr>
            </a:pPr>
            <a:r>
              <a:t>Industry Benchmark &amp; Feature Comparison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011680"/>
                <a:gridCol w="2011680"/>
                <a:gridCol w="2011680"/>
                <a:gridCol w="2194560"/>
              </a:tblGrid>
              <a:tr h="5257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Evaluation Capability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Generic Web Calc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Google Search Calc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Windows 11 Calc</a:t>
                      </a:r>
                    </a:p>
                  </a:txBody>
                  <a:tcPr anchor="ctr"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11319"/>
                          </a:solidFill>
                          <a:latin typeface="Calibri"/>
                        </a:defRPr>
                      </a:pPr>
                      <a:r>
                        <a:t>Apex Scientific</a:t>
                      </a:r>
                    </a:p>
                  </a:txBody>
                  <a:tcPr anchor="ctr">
                    <a:solidFill>
                      <a:srgbClr val="7EE08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Math Engine Implementation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eval() / Function()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Server Engine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Native C++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EE081"/>
                          </a:solidFill>
                          <a:latin typeface="Calibri"/>
                        </a:defRPr>
                      </a:pPr>
                      <a:r>
                        <a:t>Pure TypeScript RPN</a:t>
                      </a:r>
                    </a:p>
                  </a:txBody>
                  <a:tcPr anchor="ctr">
                    <a:solidFill>
                      <a:srgbClr val="1A2A2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Acoustic Membrane Synthesis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None (Mute)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None (Mute)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None (Mute)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EE081"/>
                          </a:solidFill>
                          <a:latin typeface="Calibri"/>
                        </a:defRPr>
                      </a:pPr>
                      <a:r>
                        <a:t>Web Audio Real-Time (1.9kHz)</a:t>
                      </a:r>
                    </a:p>
                  </a:txBody>
                  <a:tcPr anchor="ctr">
                    <a:solidFill>
                      <a:srgbClr val="1A2A2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Physical Hardware Enclosure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Flat HTML grid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Minimalist cards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Fluent Windows UI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EE081"/>
                          </a:solidFill>
                          <a:latin typeface="Calibri"/>
                        </a:defRPr>
                      </a:pPr>
                      <a:r>
                        <a:t>Tactile Solar &amp; Optical LCD</a:t>
                      </a:r>
                    </a:p>
                  </a:txBody>
                  <a:tcPr anchor="ctr">
                    <a:solidFill>
                      <a:srgbClr val="1A2A2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Reference Constants Sheet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Search query only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EE081"/>
                          </a:solidFill>
                          <a:latin typeface="Calibri"/>
                        </a:defRPr>
                      </a:pPr>
                      <a:r>
                        <a:t>8 Universal Constants Built-in</a:t>
                      </a:r>
                    </a:p>
                  </a:txBody>
                  <a:tcPr anchor="ctr">
                    <a:solidFill>
                      <a:srgbClr val="1A2A2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Paper Tape Storage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Session only / None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Session only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Local desktop only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EE081"/>
                          </a:solidFill>
                          <a:latin typeface="Calibri"/>
                        </a:defRPr>
                      </a:pPr>
                      <a:r>
                        <a:t>Persistent localStorage Tape</a:t>
                      </a:r>
                    </a:p>
                  </a:txBody>
                  <a:tcPr anchor="ctr">
                    <a:solidFill>
                      <a:srgbClr val="1A2A2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Keyboard Power Hotkeys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Basic 0-9 &amp; +-/*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Full NumPad</a:t>
                      </a:r>
                    </a:p>
                  </a:txBody>
                  <a:tcPr anchor="ctr">
                    <a:solidFill>
                      <a:srgbClr val="111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EE081"/>
                          </a:solidFill>
                          <a:latin typeface="Calibri"/>
                        </a:defRPr>
                      </a:pPr>
                      <a:r>
                        <a:t>Full Scientific (s,t,r,l,n,p,e,d)</a:t>
                      </a:r>
                    </a:p>
                  </a:txBody>
                  <a:tcPr anchor="ctr">
                    <a:solidFill>
                      <a:srgbClr val="1A2A2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Zero-Dependency Static Host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Requires backend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Cloud Google service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CF2F8"/>
                          </a:solidFill>
                          <a:latin typeface="Calibri"/>
                        </a:defRPr>
                      </a:pPr>
                      <a:r>
                        <a:t>Desktop OS installed</a:t>
                      </a:r>
                    </a:p>
                  </a:txBody>
                  <a:tcPr anchor="ctr"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EE081"/>
                          </a:solidFill>
                          <a:latin typeface="Calibri"/>
                        </a:defRPr>
                      </a:pPr>
                      <a:r>
                        <a:t>100% Client-Side GitHub Pages</a:t>
                      </a:r>
                    </a:p>
                  </a:txBody>
                  <a:tcPr anchor="ctr">
                    <a:solidFill>
                      <a:srgbClr val="1A2A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9"/>
          </a:solidFill>
          <a:ln>
            <a:solidFill>
              <a:srgbClr val="111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E081"/>
                </a:solidFill>
                <a:latin typeface="Consolas"/>
              </a:defRPr>
            </a:pPr>
            <a:r>
              <a:t>PRODUCTIVITY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ECF2F8"/>
                </a:solidFill>
                <a:latin typeface="Calibri"/>
              </a:defRPr>
            </a:pPr>
            <a:r>
              <a:t>Power-User Keyboard Accelerators &amp; Event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lc_shortc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3035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94A6"/>
                </a:solidFill>
                <a:latin typeface="Consolas"/>
              </a:defRPr>
            </a:pPr>
            <a:r>
              <a:t>▲ Live Prototype Screenshot: Modal detailing full desktop keyboard shortcut mappings.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463040"/>
            <a:ext cx="4754880" cy="219456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627632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Calibri"/>
              </a:defRPr>
            </a:pPr>
            <a:r>
              <a:t>High-Speed Key Mappings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1168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CF2F8"/>
                </a:solidFill>
                <a:latin typeface="Consolas"/>
              </a:defRPr>
            </a:pPr>
            <a:r>
              <a:t>s / t:   Triggers sin( / tan( trigonometric functions immediately.</a:t>
            </a:r>
          </a:p>
          <a:p>
            <a:pPr>
              <a:spcAft>
                <a:spcPts val="200"/>
              </a:spcAft>
              <a:defRPr sz="1000">
                <a:solidFill>
                  <a:srgbClr val="ECF2F8"/>
                </a:solidFill>
                <a:latin typeface="Consolas"/>
              </a:defRPr>
            </a:pPr>
            <a:r>
              <a:t>r / q:   Injects sqrt( square root operator.</a:t>
            </a:r>
          </a:p>
          <a:p>
            <a:pPr>
              <a:spcAft>
                <a:spcPts val="200"/>
              </a:spcAft>
              <a:defRPr sz="1000">
                <a:solidFill>
                  <a:srgbClr val="ECF2F8"/>
                </a:solidFill>
                <a:latin typeface="Consolas"/>
              </a:defRPr>
            </a:pPr>
            <a:r>
              <a:t>l / n:   Injects log10( / ln( logarithmic functions.</a:t>
            </a:r>
          </a:p>
          <a:p>
            <a:pPr>
              <a:spcAft>
                <a:spcPts val="200"/>
              </a:spcAft>
              <a:defRPr sz="1000">
                <a:solidFill>
                  <a:srgbClr val="ECF2F8"/>
                </a:solidFill>
                <a:latin typeface="Consolas"/>
              </a:defRPr>
            </a:pPr>
            <a:r>
              <a:t>p / e:   Inserts universal constants π and Euler's e.</a:t>
            </a:r>
          </a:p>
          <a:p>
            <a:pPr>
              <a:spcAft>
                <a:spcPts val="200"/>
              </a:spcAft>
              <a:defRPr sz="1000">
                <a:solidFill>
                  <a:srgbClr val="ECF2F8"/>
                </a:solidFill>
                <a:latin typeface="Consolas"/>
              </a:defRPr>
            </a:pPr>
            <a:r>
              <a:t>d / Esc: Toggles DEG/RAD modes (d) or Clears Display (Esc/C).</a:t>
            </a:r>
          </a:p>
          <a:p>
            <a:pPr>
              <a:spcAft>
                <a:spcPts val="200"/>
              </a:spcAft>
              <a:defRPr sz="1000">
                <a:solidFill>
                  <a:srgbClr val="ECF2F8"/>
                </a:solidFill>
                <a:latin typeface="Consolas"/>
              </a:defRPr>
            </a:pPr>
            <a:r>
              <a:t>Enter / =: Evaluates current calculation with equal-chime audio.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840480"/>
            <a:ext cx="4754880" cy="237744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4005072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EC4B6"/>
                </a:solidFill>
                <a:latin typeface="Calibri"/>
              </a:defRPr>
            </a:pPr>
            <a:r>
              <a:t>Keyboard Event Isolation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38912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▫ Focus Collision Prevention: Keydown listener inspects e.target. If focus is inside an input, textarea, or contentEditable element, calculator bypasses listener.</a:t>
            </a:r>
          </a:p>
          <a:p>
            <a:pPr>
              <a:spcAft>
                <a:spcPts val="4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▫ Default Browser Action Suppression: Calls e.preventDefault() on Enter, Backspace, and operators to stop unwanted page scrolls.</a:t>
            </a:r>
          </a:p>
          <a:p>
            <a:pPr>
              <a:spcAft>
                <a:spcPts val="4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▫ Auditory Confirmation on Keydown: Every keypress plays the corresponding acoustic transient for tactile muscle memory.</a:t>
            </a:r>
          </a:p>
          <a:p>
            <a:pPr>
              <a:spcAft>
                <a:spcPts val="400"/>
              </a:spcAft>
              <a:defRPr sz="1000">
                <a:solidFill>
                  <a:srgbClr val="ECF2F8"/>
                </a:solidFill>
                <a:latin typeface="Calibri"/>
              </a:defRPr>
            </a:pPr>
            <a:r>
              <a:t>▫ Modal Accessibility: Shortcuts modal can be dismissed via Escape key or clicking outside backdrop.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9"/>
          </a:solidFill>
          <a:ln>
            <a:solidFill>
              <a:srgbClr val="111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EE081"/>
                </a:solidFill>
                <a:latin typeface="Consolas"/>
              </a:defRPr>
            </a:pPr>
            <a: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ECF2F8"/>
                </a:solidFill>
                <a:latin typeface="Calibri"/>
              </a:defRPr>
            </a:pPr>
            <a:r>
              <a:t>Production Performance Metrics &amp; Live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A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468880" cy="15544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EE081"/>
                </a:solidFill>
                <a:latin typeface="Consolas"/>
              </a:defRPr>
            </a:pPr>
            <a:r>
              <a:t>2.37s</a:t>
            </a:r>
          </a:p>
          <a:p>
            <a:pPr algn="ctr">
              <a:defRPr sz="1200" b="1">
                <a:solidFill>
                  <a:srgbClr val="ECF2F8"/>
                </a:solidFill>
                <a:latin typeface="Calibri"/>
              </a:defRPr>
            </a:pPr>
            <a:r>
              <a:t>Vite Build Time</a:t>
            </a:r>
          </a:p>
          <a:p>
            <a:pPr algn="ctr">
              <a:defRPr sz="900">
                <a:solidFill>
                  <a:srgbClr val="8A94A6"/>
                </a:solidFill>
                <a:latin typeface="Calibri"/>
              </a:defRPr>
            </a:pPr>
            <a:r>
              <a:t>Lightning fast Rolldown / Vite 8.3 bundling.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468880" cy="15544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002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4B6"/>
                </a:solidFill>
                <a:latin typeface="Consolas"/>
              </a:defRPr>
            </a:pPr>
            <a:r>
              <a:t>0 Vuln</a:t>
            </a:r>
          </a:p>
          <a:p>
            <a:pPr algn="ctr">
              <a:defRPr sz="1200" b="1">
                <a:solidFill>
                  <a:srgbClr val="ECF2F8"/>
                </a:solidFill>
                <a:latin typeface="Calibri"/>
              </a:defRPr>
            </a:pPr>
            <a:r>
              <a:t>Security Audit</a:t>
            </a:r>
          </a:p>
          <a:p>
            <a:pPr algn="ctr">
              <a:defRPr sz="900">
                <a:solidFill>
                  <a:srgbClr val="8A94A6"/>
                </a:solidFill>
                <a:latin typeface="Calibri"/>
              </a:defRPr>
            </a:pPr>
            <a:r>
              <a:t>Zero third-party CVEs, no eval() code injection.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468880" cy="15544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Consolas"/>
              </a:defRPr>
            </a:pPr>
            <a:r>
              <a:t>121 kB</a:t>
            </a:r>
          </a:p>
          <a:p>
            <a:pPr algn="ctr">
              <a:defRPr sz="1200" b="1">
                <a:solidFill>
                  <a:srgbClr val="ECF2F8"/>
                </a:solidFill>
                <a:latin typeface="Calibri"/>
              </a:defRPr>
            </a:pPr>
            <a:r>
              <a:t>Gzip JS Bundle</a:t>
            </a:r>
          </a:p>
          <a:p>
            <a:pPr algn="ctr">
              <a:defRPr sz="900">
                <a:solidFill>
                  <a:srgbClr val="8A94A6"/>
                </a:solidFill>
                <a:latin typeface="Calibri"/>
              </a:defRPr>
            </a:pPr>
            <a:r>
              <a:t>Lightweight, ultra-fast initial load on 3G/4G.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463040"/>
            <a:ext cx="2468880" cy="15544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6002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EE081"/>
                </a:solidFill>
                <a:latin typeface="Consolas"/>
              </a:defRPr>
            </a:pPr>
            <a:r>
              <a:t>100%</a:t>
            </a:r>
          </a:p>
          <a:p>
            <a:pPr algn="ctr">
              <a:defRPr sz="1200" b="1">
                <a:solidFill>
                  <a:srgbClr val="ECF2F8"/>
                </a:solidFill>
                <a:latin typeface="Calibri"/>
              </a:defRPr>
            </a:pPr>
            <a:r>
              <a:t>Client-Side Privacy</a:t>
            </a:r>
          </a:p>
          <a:p>
            <a:pPr algn="ctr">
              <a:defRPr sz="900">
                <a:solidFill>
                  <a:srgbClr val="8A94A6"/>
                </a:solidFill>
                <a:latin typeface="Calibri"/>
              </a:defRPr>
            </a:pPr>
            <a:r>
              <a:t>No user telemetry, zero server-side math leaks.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10728655" cy="2011680"/>
          </a:xfrm>
          <a:prstGeom prst="roundRect">
            <a:avLst/>
          </a:prstGeom>
          <a:solidFill>
            <a:srgbClr val="181B24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EC4B6"/>
                </a:solidFill>
                <a:latin typeface="Calibri"/>
              </a:defRPr>
            </a:pPr>
            <a:r>
              <a:t>GitHub Production Release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CF2F8"/>
                </a:solidFill>
                <a:latin typeface="Consolas"/>
              </a:defRPr>
            </a:pPr>
            <a:r>
              <a:t>✔  GitHub Repository URL:  https://github.com/greatrocktiger-byte/apex-scientific-calculator</a:t>
            </a:r>
          </a:p>
          <a:p>
            <a:pPr>
              <a:spcAft>
                <a:spcPts val="400"/>
              </a:spcAft>
              <a:defRPr sz="1100">
                <a:solidFill>
                  <a:srgbClr val="ECF2F8"/>
                </a:solidFill>
                <a:latin typeface="Consolas"/>
              </a:defRPr>
            </a:pPr>
            <a:r>
              <a:t>✔  Live Production Demo:   https://greatrocktiger-byte.github.io/apex-scientific-calculator/</a:t>
            </a:r>
          </a:p>
          <a:p>
            <a:pPr>
              <a:spcAft>
                <a:spcPts val="400"/>
              </a:spcAft>
              <a:defRPr sz="1100">
                <a:solidFill>
                  <a:srgbClr val="ECF2F8"/>
                </a:solidFill>
                <a:latin typeface="Consolas"/>
              </a:defRPr>
            </a:pPr>
            <a:r>
              <a:t>✔  Deployment Pipeline:    Automated static distribution hosted via 'gh-pages' branch with base: './' asset resolution.</a:t>
            </a:r>
          </a:p>
          <a:p>
            <a:pPr>
              <a:spcAft>
                <a:spcPts val="400"/>
              </a:spcAft>
              <a:defRPr sz="1100">
                <a:solidFill>
                  <a:srgbClr val="ECF2F8"/>
                </a:solidFill>
                <a:latin typeface="Consolas"/>
              </a:defRPr>
            </a:pPr>
            <a:r>
              <a:t>✔  Licensing &amp; Standards:  Open source under Apache License 2.0. Compliant with standard IEEE-754 precision math.</a:t>
            </a:r>
          </a:p>
          <a:p>
            <a:pPr>
              <a:spcAft>
                <a:spcPts val="400"/>
              </a:spcAft>
              <a:defRPr sz="1100">
                <a:solidFill>
                  <a:srgbClr val="ECF2F8"/>
                </a:solidFill>
                <a:latin typeface="Consolas"/>
              </a:defRPr>
            </a:pPr>
            <a:r>
              <a:t>✔  Quality Verification:   Typecheck passed (tsc --noEmit: 0 errors). Tested across Chrome, Edge, and mobile viewports.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1E2A38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9612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EE081"/>
                </a:solidFill>
                <a:latin typeface="Calibri"/>
              </a:defRPr>
            </a:pPr>
            <a:r>
              <a:t>FINAL SUMMARY: Apex bridges industrial scientific hardware aesthetics with algorithmic mathematical correctness, delivering a responsive, audibly tactile, and accessible calculator for engineering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